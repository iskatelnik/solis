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Amatic SC"/>
      <p:regular r:id="rId10"/>
      <p:bold r:id="rId11"/>
    </p:embeddedFont>
    <p:embeddedFont>
      <p:font typeface="Oswald"/>
      <p:regular r:id="rId12"/>
      <p:bold r:id="rId13"/>
    </p:embeddedFont>
    <p:embeddedFont>
      <p:font typeface="Caveat SemiBold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maticSC-bold.fntdata"/><Relationship Id="rId10" Type="http://schemas.openxmlformats.org/officeDocument/2006/relationships/font" Target="fonts/AmaticSC-regular.fntdata"/><Relationship Id="rId13" Type="http://schemas.openxmlformats.org/officeDocument/2006/relationships/font" Target="fonts/Oswald-bold.fntdata"/><Relationship Id="rId12" Type="http://schemas.openxmlformats.org/officeDocument/2006/relationships/font" Target="fonts/Oswa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aveatSemiBold-bold.fntdata"/><Relationship Id="rId14" Type="http://schemas.openxmlformats.org/officeDocument/2006/relationships/font" Target="fonts/Caveat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02e0335e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02e0335e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02e0335e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02e0335e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02e0335e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02e0335e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18362" r="21961" t="0"/>
          <a:stretch/>
        </p:blipFill>
        <p:spPr>
          <a:xfrm>
            <a:off x="0" y="0"/>
            <a:ext cx="4740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667975" y="238575"/>
            <a:ext cx="3397200" cy="1002000"/>
          </a:xfrm>
          <a:prstGeom prst="rect">
            <a:avLst/>
          </a:prstGeom>
          <a:noFill/>
          <a:ln>
            <a:noFill/>
          </a:ln>
          <a:effectLst>
            <a:outerShdw blurRad="328613" rotWithShape="0" algn="bl" dist="9525">
              <a:srgbClr val="FF9900">
                <a:alpha val="9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5700">
                <a:solidFill>
                  <a:srgbClr val="F1C232"/>
                </a:solidFill>
                <a:latin typeface="Caveat SemiBold"/>
                <a:ea typeface="Caveat SemiBold"/>
                <a:cs typeface="Caveat SemiBold"/>
                <a:sym typeface="Caveat SemiBold"/>
              </a:rPr>
              <a:t>SOLIS</a:t>
            </a:r>
            <a:endParaRPr sz="5700">
              <a:solidFill>
                <a:srgbClr val="F1C232"/>
              </a:solidFill>
              <a:latin typeface="Caveat SemiBold"/>
              <a:ea typeface="Caveat SemiBold"/>
              <a:cs typeface="Caveat SemiBold"/>
              <a:sym typeface="Caveat SemiBold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4733175" y="75"/>
            <a:ext cx="44109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1285875"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 rot="-989206">
            <a:off x="4936783" y="373848"/>
            <a:ext cx="3851034" cy="2813157"/>
          </a:xfrm>
          <a:prstGeom prst="roundRect">
            <a:avLst>
              <a:gd fmla="val 26268" name="adj"/>
            </a:avLst>
          </a:prstGeom>
          <a:solidFill>
            <a:srgbClr val="FFE599"/>
          </a:solidFill>
          <a:ln>
            <a:noFill/>
          </a:ln>
          <a:effectLst>
            <a:outerShdw blurRad="57150" rotWithShape="0" algn="bl">
              <a:srgbClr val="FF99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 rot="327232">
            <a:off x="4975411" y="376734"/>
            <a:ext cx="3850833" cy="2776181"/>
          </a:xfrm>
          <a:prstGeom prst="roundRect">
            <a:avLst>
              <a:gd fmla="val 26268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>
              <a:srgbClr val="FF99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5249175" y="410325"/>
            <a:ext cx="33150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4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Обуздайте божественную энергию и выйдите за пределы своей клетки, чтобы изменить общество, которое от вас отвернулось, в этом нарративном rogue-like полным историй и тайн.</a:t>
            </a:r>
            <a:endParaRPr b="1" sz="24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5055375" y="3577775"/>
            <a:ext cx="3702600" cy="1222500"/>
          </a:xfrm>
          <a:prstGeom prst="rect">
            <a:avLst/>
          </a:prstGeom>
          <a:noFill/>
          <a:ln>
            <a:noFill/>
          </a:ln>
          <a:effectLst>
            <a:outerShdw blurRad="457200" rotWithShape="0" algn="bl">
              <a:srgbClr val="FFE599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4"/>
                </a:solidFill>
                <a:latin typeface="Amatic SC"/>
                <a:ea typeface="Amatic SC"/>
                <a:cs typeface="Amatic SC"/>
                <a:sym typeface="Amatic SC"/>
              </a:rPr>
              <a:t>Авторы: </a:t>
            </a:r>
            <a:endParaRPr sz="1800">
              <a:solidFill>
                <a:schemeClr val="accent4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4"/>
                </a:solidFill>
                <a:latin typeface="Amatic SC"/>
                <a:ea typeface="Amatic SC"/>
                <a:cs typeface="Amatic SC"/>
                <a:sym typeface="Amatic SC"/>
              </a:rPr>
              <a:t>Бакман Роман, Макаров Никита</a:t>
            </a:r>
            <a:endParaRPr sz="1800">
              <a:solidFill>
                <a:schemeClr val="accent4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4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4"/>
                </a:solidFill>
                <a:latin typeface="Amatic SC"/>
                <a:ea typeface="Amatic SC"/>
                <a:cs typeface="Amatic SC"/>
                <a:sym typeface="Amatic SC"/>
              </a:rPr>
              <a:t>Команда: Бахрома</a:t>
            </a:r>
            <a:endParaRPr sz="1800">
              <a:solidFill>
                <a:schemeClr val="accent4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75" y="75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1285875"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 rotWithShape="1">
          <a:blip r:embed="rId3">
            <a:alphaModFix amt="52000"/>
          </a:blip>
          <a:srcRect b="3381" l="1989" r="1903" t="3474"/>
          <a:stretch/>
        </p:blipFill>
        <p:spPr>
          <a:xfrm>
            <a:off x="-107700" y="75"/>
            <a:ext cx="947267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 rotWithShape="1">
          <a:blip r:embed="rId4">
            <a:alphaModFix/>
          </a:blip>
          <a:srcRect b="3381" l="69330" r="1902" t="64082"/>
          <a:stretch/>
        </p:blipFill>
        <p:spPr>
          <a:xfrm>
            <a:off x="6529474" y="3346875"/>
            <a:ext cx="2835500" cy="179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/>
          <p:nvPr/>
        </p:nvSpPr>
        <p:spPr>
          <a:xfrm rot="-870499">
            <a:off x="938192" y="880107"/>
            <a:ext cx="4362515" cy="2847786"/>
          </a:xfrm>
          <a:prstGeom prst="roundRect">
            <a:avLst>
              <a:gd fmla="val 26268" name="adj"/>
            </a:avLst>
          </a:prstGeom>
          <a:solidFill>
            <a:srgbClr val="FFE599"/>
          </a:solidFill>
          <a:ln>
            <a:noFill/>
          </a:ln>
          <a:effectLst>
            <a:outerShdw blurRad="57150" rotWithShape="0" algn="bl">
              <a:srgbClr val="FF99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 rot="286305">
            <a:off x="963852" y="898384"/>
            <a:ext cx="4399750" cy="2780030"/>
          </a:xfrm>
          <a:prstGeom prst="roundRect">
            <a:avLst>
              <a:gd fmla="val 26268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>
              <a:srgbClr val="FF99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 rot="628860">
            <a:off x="4363214" y="2873918"/>
            <a:ext cx="2330280" cy="944278"/>
          </a:xfrm>
          <a:prstGeom prst="triangle">
            <a:avLst>
              <a:gd fmla="val 47086" name="adj"/>
            </a:avLst>
          </a:prstGeom>
          <a:solidFill>
            <a:srgbClr val="FFD966"/>
          </a:solidFill>
          <a:ln>
            <a:noFill/>
          </a:ln>
          <a:effectLst>
            <a:outerShdw blurRad="1285875"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1221700" y="995400"/>
            <a:ext cx="39729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4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Боевая система строится на менеджменте двух шкал: Здоровья и Жар. Использую магию, вы накапливаете Жар. Чем выше - тем сокрушительнее ваш урон, но при достижении предела герой начнет сгорать заживо</a:t>
            </a:r>
            <a:endParaRPr b="1" sz="24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75" y="75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1285875"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3">
            <a:alphaModFix/>
          </a:blip>
          <a:srcRect b="36293" l="69537" r="1902" t="13508"/>
          <a:stretch/>
        </p:blipFill>
        <p:spPr>
          <a:xfrm>
            <a:off x="6550000" y="554400"/>
            <a:ext cx="2814975" cy="277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 rotWithShape="1">
          <a:blip r:embed="rId4">
            <a:alphaModFix amt="52000"/>
          </a:blip>
          <a:srcRect b="3381" l="1989" r="1903" t="3474"/>
          <a:stretch/>
        </p:blipFill>
        <p:spPr>
          <a:xfrm>
            <a:off x="-107700" y="75"/>
            <a:ext cx="947267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/>
          <p:nvPr/>
        </p:nvSpPr>
        <p:spPr>
          <a:xfrm rot="-870499">
            <a:off x="938192" y="880107"/>
            <a:ext cx="4362515" cy="2847786"/>
          </a:xfrm>
          <a:prstGeom prst="roundRect">
            <a:avLst>
              <a:gd fmla="val 26268" name="adj"/>
            </a:avLst>
          </a:prstGeom>
          <a:solidFill>
            <a:srgbClr val="FFE599"/>
          </a:solidFill>
          <a:ln>
            <a:noFill/>
          </a:ln>
          <a:effectLst>
            <a:outerShdw blurRad="57150" rotWithShape="0" algn="bl">
              <a:srgbClr val="FF99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 rot="286305">
            <a:off x="963852" y="898384"/>
            <a:ext cx="4399750" cy="2780030"/>
          </a:xfrm>
          <a:prstGeom prst="roundRect">
            <a:avLst>
              <a:gd fmla="val 26268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>
              <a:srgbClr val="FF99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 rot="-2052459">
            <a:off x="4635774" y="2524954"/>
            <a:ext cx="2330335" cy="944165"/>
          </a:xfrm>
          <a:prstGeom prst="triangle">
            <a:avLst>
              <a:gd fmla="val 6946" name="adj"/>
            </a:avLst>
          </a:prstGeom>
          <a:solidFill>
            <a:srgbClr val="FFD966"/>
          </a:solidFill>
          <a:ln>
            <a:noFill/>
          </a:ln>
          <a:effectLst>
            <a:outerShdw blurRad="1285875"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1231975" y="995400"/>
            <a:ext cx="41067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4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Лор - это боевой ресурс. Читая записи о мире вы собираете информацию, которую можно использовать в системе Социального Боя. Узнали, что стражникам не выплачивают ЗП? Надавите на эту точку, и он вас пропустит.</a:t>
            </a:r>
            <a:endParaRPr b="1" sz="24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/>
          <p:nvPr/>
        </p:nvSpPr>
        <p:spPr>
          <a:xfrm>
            <a:off x="-143725" y="75"/>
            <a:ext cx="92877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1285875"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6"/>
          <p:cNvPicPr preferRelativeResize="0"/>
          <p:nvPr/>
        </p:nvPicPr>
        <p:blipFill rotWithShape="1">
          <a:blip r:embed="rId3">
            <a:alphaModFix amt="63000"/>
          </a:blip>
          <a:srcRect b="0" l="-1430" r="1430" t="0"/>
          <a:stretch/>
        </p:blipFill>
        <p:spPr>
          <a:xfrm>
            <a:off x="-41950" y="75"/>
            <a:ext cx="85860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225900" y="811050"/>
            <a:ext cx="7710000" cy="636600"/>
          </a:xfrm>
          <a:prstGeom prst="roundRect">
            <a:avLst>
              <a:gd fmla="val 3077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текстовый нарративный рогалик с элементами социальной RPG и Dungeon Crawler.</a:t>
            </a:r>
            <a:endParaRPr sz="16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268875" y="121625"/>
            <a:ext cx="1455900" cy="585900"/>
          </a:xfrm>
          <a:prstGeom prst="roundRect">
            <a:avLst>
              <a:gd fmla="val 38219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accent4"/>
                </a:solidFill>
                <a:latin typeface="Impact"/>
                <a:ea typeface="Impact"/>
                <a:cs typeface="Impact"/>
                <a:sym typeface="Impact"/>
              </a:rPr>
              <a:t>Жанр</a:t>
            </a:r>
            <a:endParaRPr sz="2600">
              <a:solidFill>
                <a:schemeClr val="accent4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225900" y="2240600"/>
            <a:ext cx="7710000" cy="792600"/>
          </a:xfrm>
          <a:prstGeom prst="roundRect">
            <a:avLst>
              <a:gd fmla="val 3077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Глубокое развитие истории мира с различными концовками; Социальный бой; Лор - не просто рассказ о мире но и валюта и средство боя</a:t>
            </a:r>
            <a:endParaRPr sz="16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268875" y="1551175"/>
            <a:ext cx="2184900" cy="585900"/>
          </a:xfrm>
          <a:prstGeom prst="roundRect">
            <a:avLst>
              <a:gd fmla="val 38219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accent4"/>
                </a:solidFill>
                <a:latin typeface="Impact"/>
                <a:ea typeface="Impact"/>
                <a:cs typeface="Impact"/>
                <a:sym typeface="Impact"/>
              </a:rPr>
              <a:t>Особенности</a:t>
            </a:r>
            <a:endParaRPr sz="2600">
              <a:solidFill>
                <a:schemeClr val="accent4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225900" y="3826150"/>
            <a:ext cx="7710000" cy="1122300"/>
          </a:xfrm>
          <a:prstGeom prst="roundRect">
            <a:avLst>
              <a:gd fmla="val 3077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Фанаты темного фэнтези и необычных сюжетов с моральными дилеммами.</a:t>
            </a:r>
            <a:endParaRPr sz="16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Фанаты рогаликов с упором на нарратив и мета-прогрессию.</a:t>
            </a:r>
            <a:endParaRPr sz="16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Игроки, которым нравится читать и вникать в лор </a:t>
            </a:r>
            <a:endParaRPr sz="1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268875" y="3136725"/>
            <a:ext cx="3283200" cy="585900"/>
          </a:xfrm>
          <a:prstGeom prst="roundRect">
            <a:avLst>
              <a:gd fmla="val 38219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accent4"/>
                </a:solidFill>
                <a:latin typeface="Impact"/>
                <a:ea typeface="Impact"/>
                <a:cs typeface="Impact"/>
                <a:sym typeface="Impact"/>
              </a:rPr>
              <a:t>Целевая аудитория</a:t>
            </a:r>
            <a:endParaRPr sz="2600">
              <a:solidFill>
                <a:schemeClr val="accent4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